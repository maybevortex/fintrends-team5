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Roboto Bold" charset="1" panose="02000000000000000000"/>
      <p:regular r:id="rId27"/>
    </p:embeddedFont>
    <p:embeddedFont>
      <p:font typeface="Roboto" charset="1" panose="0200000000000000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01781" y="7657671"/>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55619" y="8743950"/>
            <a:ext cx="3086100" cy="3086100"/>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201900" y="-1395094"/>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7" id="7"/>
          <p:cNvGrpSpPr/>
          <p:nvPr/>
        </p:nvGrpSpPr>
        <p:grpSpPr>
          <a:xfrm rot="0">
            <a:off x="13333810" y="-1543050"/>
            <a:ext cx="3086100" cy="3086100"/>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3086100" y="3494821"/>
            <a:ext cx="12115800" cy="3169272"/>
          </a:xfrm>
          <a:prstGeom prst="rect">
            <a:avLst/>
          </a:prstGeom>
        </p:spPr>
        <p:txBody>
          <a:bodyPr anchor="t" rtlCol="false" tIns="0" lIns="0" bIns="0" rIns="0">
            <a:spAutoFit/>
          </a:bodyPr>
          <a:lstStyle/>
          <a:p>
            <a:pPr algn="ctr">
              <a:lnSpc>
                <a:spcPts val="12740"/>
              </a:lnSpc>
            </a:pPr>
            <a:r>
              <a:rPr lang="en-US" sz="9100" b="true">
                <a:solidFill>
                  <a:srgbClr val="31404B"/>
                </a:solidFill>
                <a:latin typeface="Roboto Bold"/>
                <a:ea typeface="Roboto Bold"/>
                <a:cs typeface="Roboto Bold"/>
                <a:sym typeface="Roboto Bold"/>
              </a:rPr>
              <a:t>Analyzing Financial Market Trends in R</a:t>
            </a:r>
          </a:p>
        </p:txBody>
      </p:sp>
      <p:sp>
        <p:nvSpPr>
          <p:cNvPr name="Freeform 11" id="11"/>
          <p:cNvSpPr/>
          <p:nvPr/>
        </p:nvSpPr>
        <p:spPr>
          <a:xfrm flipH="false" flipV="false" rot="0">
            <a:off x="16936188" y="1920463"/>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2048664" y="4832351"/>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847725"/>
            <a:ext cx="7786735" cy="1552575"/>
          </a:xfrm>
          <a:prstGeom prst="rect">
            <a:avLst/>
          </a:prstGeom>
        </p:spPr>
        <p:txBody>
          <a:bodyPr anchor="t" rtlCol="false" tIns="0" lIns="0" bIns="0" rIns="0">
            <a:spAutoFit/>
          </a:bodyPr>
          <a:lstStyle/>
          <a:p>
            <a:pPr algn="ctr">
              <a:lnSpc>
                <a:spcPts val="12599"/>
              </a:lnSpc>
            </a:pPr>
            <a:r>
              <a:rPr lang="en-US" sz="9000" b="true">
                <a:solidFill>
                  <a:srgbClr val="31404B"/>
                </a:solidFill>
                <a:latin typeface="Roboto Bold"/>
                <a:ea typeface="Roboto Bold"/>
                <a:cs typeface="Roboto Bold"/>
                <a:sym typeface="Roboto Bold"/>
              </a:rPr>
              <a:t>Members</a:t>
            </a:r>
          </a:p>
        </p:txBody>
      </p:sp>
      <p:sp>
        <p:nvSpPr>
          <p:cNvPr name="TextBox 11" id="11"/>
          <p:cNvSpPr txBox="true"/>
          <p:nvPr/>
        </p:nvSpPr>
        <p:spPr>
          <a:xfrm rot="0">
            <a:off x="4174401" y="3369310"/>
            <a:ext cx="9939199" cy="149098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31404B"/>
                </a:solidFill>
                <a:latin typeface="Roboto"/>
                <a:ea typeface="Roboto"/>
                <a:cs typeface="Roboto"/>
                <a:sym typeface="Roboto"/>
              </a:rPr>
              <a:t>M.Nivien  - 2023BCS0054</a:t>
            </a:r>
          </a:p>
          <a:p>
            <a:pPr algn="l" marL="604519" indent="-302260" lvl="1">
              <a:lnSpc>
                <a:spcPts val="3919"/>
              </a:lnSpc>
              <a:buFont typeface="Arial"/>
              <a:buChar char="•"/>
            </a:pPr>
            <a:r>
              <a:rPr lang="en-US" sz="2799">
                <a:solidFill>
                  <a:srgbClr val="31404B"/>
                </a:solidFill>
                <a:latin typeface="Roboto"/>
                <a:ea typeface="Roboto"/>
                <a:cs typeface="Roboto"/>
                <a:sym typeface="Roboto"/>
              </a:rPr>
              <a:t>Shaun Alan Joseph - 2023BCD0006</a:t>
            </a:r>
          </a:p>
          <a:p>
            <a:pPr algn="l" marL="604519" indent="-302260" lvl="1">
              <a:lnSpc>
                <a:spcPts val="3919"/>
              </a:lnSpc>
              <a:buFont typeface="Arial"/>
              <a:buChar char="•"/>
            </a:pPr>
            <a:r>
              <a:rPr lang="en-US" sz="2799">
                <a:solidFill>
                  <a:srgbClr val="31404B"/>
                </a:solidFill>
                <a:latin typeface="Roboto"/>
                <a:ea typeface="Roboto"/>
                <a:cs typeface="Roboto"/>
                <a:sym typeface="Roboto"/>
              </a:rPr>
              <a:t>Venkat Jaswanth - 2023BCD0021</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847725"/>
            <a:ext cx="7786735" cy="1552575"/>
          </a:xfrm>
          <a:prstGeom prst="rect">
            <a:avLst/>
          </a:prstGeom>
        </p:spPr>
        <p:txBody>
          <a:bodyPr anchor="t" rtlCol="false" tIns="0" lIns="0" bIns="0" rIns="0">
            <a:spAutoFit/>
          </a:bodyPr>
          <a:lstStyle/>
          <a:p>
            <a:pPr algn="ctr">
              <a:lnSpc>
                <a:spcPts val="12599"/>
              </a:lnSpc>
            </a:pPr>
            <a:r>
              <a:rPr lang="en-US" sz="9000" b="true">
                <a:solidFill>
                  <a:srgbClr val="31404B"/>
                </a:solidFill>
                <a:latin typeface="Roboto Bold"/>
                <a:ea typeface="Roboto Bold"/>
                <a:cs typeface="Roboto Bold"/>
                <a:sym typeface="Roboto Bold"/>
              </a:rPr>
              <a:t>Introduction</a:t>
            </a:r>
          </a:p>
        </p:txBody>
      </p:sp>
      <p:sp>
        <p:nvSpPr>
          <p:cNvPr name="TextBox 11" id="11"/>
          <p:cNvSpPr txBox="true"/>
          <p:nvPr/>
        </p:nvSpPr>
        <p:spPr>
          <a:xfrm rot="0">
            <a:off x="4174401" y="3369310"/>
            <a:ext cx="9939199" cy="5453380"/>
          </a:xfrm>
          <a:prstGeom prst="rect">
            <a:avLst/>
          </a:prstGeom>
        </p:spPr>
        <p:txBody>
          <a:bodyPr anchor="t" rtlCol="false" tIns="0" lIns="0" bIns="0" rIns="0">
            <a:spAutoFit/>
          </a:bodyPr>
          <a:lstStyle/>
          <a:p>
            <a:pPr algn="just">
              <a:lnSpc>
                <a:spcPts val="3919"/>
              </a:lnSpc>
            </a:pPr>
            <a:r>
              <a:rPr lang="en-US" sz="2799">
                <a:solidFill>
                  <a:srgbClr val="31404B"/>
                </a:solidFill>
                <a:latin typeface="Roboto"/>
                <a:ea typeface="Roboto"/>
                <a:cs typeface="Roboto"/>
                <a:sym typeface="Roboto"/>
              </a:rPr>
              <a:t>This project applies data mining and time-series techniques to historical stock data for AAPL, GOOG, and MSFT (2020–2021) using R. The pipeline covers data acquisition, preprocessing, trend analysis via moving averages, volatility estimation, correlation analysis, and ARIMA forecasting. Findings highlight strong inter-stock correlations, volatility spikes during the COVID-19 market shock, and sustained upward trends across all three assets. The project demonstrates how core data warehousing concepts — windowed aggregation, ETL pipelines, and sequential pattern mining — map directly onto real-world financial analysis.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847725"/>
            <a:ext cx="7786735" cy="1552575"/>
          </a:xfrm>
          <a:prstGeom prst="rect">
            <a:avLst/>
          </a:prstGeom>
        </p:spPr>
        <p:txBody>
          <a:bodyPr anchor="t" rtlCol="false" tIns="0" lIns="0" bIns="0" rIns="0">
            <a:spAutoFit/>
          </a:bodyPr>
          <a:lstStyle/>
          <a:p>
            <a:pPr algn="ctr">
              <a:lnSpc>
                <a:spcPts val="12599"/>
              </a:lnSpc>
            </a:pPr>
            <a:r>
              <a:rPr lang="en-US" sz="9000" b="true">
                <a:solidFill>
                  <a:srgbClr val="31404B"/>
                </a:solidFill>
                <a:latin typeface="Roboto Bold"/>
                <a:ea typeface="Roboto Bold"/>
                <a:cs typeface="Roboto Bold"/>
                <a:sym typeface="Roboto Bold"/>
              </a:rPr>
              <a:t>Libraries Used</a:t>
            </a:r>
          </a:p>
        </p:txBody>
      </p:sp>
      <p:sp>
        <p:nvSpPr>
          <p:cNvPr name="TextBox 11" id="11"/>
          <p:cNvSpPr txBox="true"/>
          <p:nvPr/>
        </p:nvSpPr>
        <p:spPr>
          <a:xfrm rot="0">
            <a:off x="4174401" y="3369310"/>
            <a:ext cx="9939199" cy="3472180"/>
          </a:xfrm>
          <a:prstGeom prst="rect">
            <a:avLst/>
          </a:prstGeom>
        </p:spPr>
        <p:txBody>
          <a:bodyPr anchor="t" rtlCol="false" tIns="0" lIns="0" bIns="0" rIns="0">
            <a:spAutoFit/>
          </a:bodyPr>
          <a:lstStyle/>
          <a:p>
            <a:pPr algn="just" marL="604519" indent="-302260" lvl="1">
              <a:lnSpc>
                <a:spcPts val="3919"/>
              </a:lnSpc>
              <a:buFont typeface="Arial"/>
              <a:buChar char="•"/>
            </a:pPr>
            <a:r>
              <a:rPr lang="en-US" sz="2799">
                <a:solidFill>
                  <a:srgbClr val="31404B"/>
                </a:solidFill>
                <a:latin typeface="Roboto"/>
                <a:ea typeface="Roboto"/>
                <a:cs typeface="Roboto"/>
                <a:sym typeface="Roboto"/>
              </a:rPr>
              <a:t>quantmod — fetch &amp; manage financial time-series data</a:t>
            </a:r>
          </a:p>
          <a:p>
            <a:pPr algn="just" marL="604519" indent="-302260" lvl="1">
              <a:lnSpc>
                <a:spcPts val="3919"/>
              </a:lnSpc>
              <a:buFont typeface="Arial"/>
              <a:buChar char="•"/>
            </a:pPr>
            <a:r>
              <a:rPr lang="en-US" sz="2799">
                <a:solidFill>
                  <a:srgbClr val="31404B"/>
                </a:solidFill>
                <a:latin typeface="Roboto"/>
                <a:ea typeface="Roboto"/>
                <a:cs typeface="Roboto"/>
                <a:sym typeface="Roboto"/>
              </a:rPr>
              <a:t>TTR — technical indicators (SMA, EMA, rolling SD)</a:t>
            </a:r>
          </a:p>
          <a:p>
            <a:pPr algn="just" marL="604519" indent="-302260" lvl="1">
              <a:lnSpc>
                <a:spcPts val="3919"/>
              </a:lnSpc>
              <a:buFont typeface="Arial"/>
              <a:buChar char="•"/>
            </a:pPr>
            <a:r>
              <a:rPr lang="en-US" sz="2799">
                <a:solidFill>
                  <a:srgbClr val="31404B"/>
                </a:solidFill>
                <a:latin typeface="Roboto"/>
                <a:ea typeface="Roboto"/>
                <a:cs typeface="Roboto"/>
                <a:sym typeface="Roboto"/>
              </a:rPr>
              <a:t>ggplot2 / plotly — static and interactive visualization</a:t>
            </a:r>
          </a:p>
          <a:p>
            <a:pPr algn="just" marL="604519" indent="-302260" lvl="1">
              <a:lnSpc>
                <a:spcPts val="3919"/>
              </a:lnSpc>
              <a:buFont typeface="Arial"/>
              <a:buChar char="•"/>
            </a:pPr>
            <a:r>
              <a:rPr lang="en-US" sz="2799">
                <a:solidFill>
                  <a:srgbClr val="31404B"/>
                </a:solidFill>
                <a:latin typeface="Roboto"/>
                <a:ea typeface="Roboto"/>
                <a:cs typeface="Roboto"/>
                <a:sym typeface="Roboto"/>
              </a:rPr>
              <a:t>forecast — ARIMA modelling and forecasting</a:t>
            </a:r>
          </a:p>
          <a:p>
            <a:pPr algn="just" marL="604519" indent="-302260" lvl="1">
              <a:lnSpc>
                <a:spcPts val="3919"/>
              </a:lnSpc>
              <a:buFont typeface="Arial"/>
              <a:buChar char="•"/>
            </a:pPr>
            <a:r>
              <a:rPr lang="en-US" sz="2799">
                <a:solidFill>
                  <a:srgbClr val="31404B"/>
                </a:solidFill>
                <a:latin typeface="Roboto"/>
                <a:ea typeface="Roboto"/>
                <a:cs typeface="Roboto"/>
                <a:sym typeface="Roboto"/>
              </a:rPr>
              <a:t>PerformanceAnalytics — portfolio return metrics</a:t>
            </a:r>
          </a:p>
          <a:p>
            <a:pPr algn="just" marL="604519" indent="-302260" lvl="1">
              <a:lnSpc>
                <a:spcPts val="3919"/>
              </a:lnSpc>
              <a:buFont typeface="Arial"/>
              <a:buChar char="•"/>
            </a:pPr>
            <a:r>
              <a:rPr lang="en-US" sz="2799">
                <a:solidFill>
                  <a:srgbClr val="31404B"/>
                </a:solidFill>
                <a:latin typeface="Roboto"/>
                <a:ea typeface="Roboto"/>
                <a:cs typeface="Roboto"/>
                <a:sym typeface="Roboto"/>
              </a:rPr>
              <a:t>dplyr / zoo / xts — data wrangling and time-series handling</a:t>
            </a:r>
          </a:p>
          <a:p>
            <a:pPr algn="just">
              <a:lnSpc>
                <a:spcPts val="3919"/>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847725"/>
            <a:ext cx="7786735" cy="1552575"/>
          </a:xfrm>
          <a:prstGeom prst="rect">
            <a:avLst/>
          </a:prstGeom>
        </p:spPr>
        <p:txBody>
          <a:bodyPr anchor="t" rtlCol="false" tIns="0" lIns="0" bIns="0" rIns="0">
            <a:spAutoFit/>
          </a:bodyPr>
          <a:lstStyle/>
          <a:p>
            <a:pPr algn="ctr">
              <a:lnSpc>
                <a:spcPts val="12599"/>
              </a:lnSpc>
            </a:pPr>
            <a:r>
              <a:rPr lang="en-US" sz="9000" b="true">
                <a:solidFill>
                  <a:srgbClr val="31404B"/>
                </a:solidFill>
                <a:latin typeface="Roboto Bold"/>
                <a:ea typeface="Roboto Bold"/>
                <a:cs typeface="Roboto Bold"/>
                <a:sym typeface="Roboto Bold"/>
              </a:rPr>
              <a:t>Dataset Used</a:t>
            </a:r>
          </a:p>
        </p:txBody>
      </p:sp>
      <p:sp>
        <p:nvSpPr>
          <p:cNvPr name="TextBox 11" id="11"/>
          <p:cNvSpPr txBox="true"/>
          <p:nvPr/>
        </p:nvSpPr>
        <p:spPr>
          <a:xfrm rot="0">
            <a:off x="4174401" y="3369310"/>
            <a:ext cx="9939199" cy="2976880"/>
          </a:xfrm>
          <a:prstGeom prst="rect">
            <a:avLst/>
          </a:prstGeom>
        </p:spPr>
        <p:txBody>
          <a:bodyPr anchor="t" rtlCol="false" tIns="0" lIns="0" bIns="0" rIns="0">
            <a:spAutoFit/>
          </a:bodyPr>
          <a:lstStyle/>
          <a:p>
            <a:pPr algn="just" marL="604519" indent="-302260" lvl="1">
              <a:lnSpc>
                <a:spcPts val="3919"/>
              </a:lnSpc>
              <a:buFont typeface="Arial"/>
              <a:buChar char="•"/>
            </a:pPr>
            <a:r>
              <a:rPr lang="en-US" sz="2799">
                <a:solidFill>
                  <a:srgbClr val="31404B"/>
                </a:solidFill>
                <a:latin typeface="Roboto"/>
                <a:ea typeface="Roboto"/>
                <a:cs typeface="Roboto"/>
                <a:sym typeface="Roboto"/>
              </a:rPr>
              <a:t>Source: Yahoo Finance via getSymbols()</a:t>
            </a:r>
          </a:p>
          <a:p>
            <a:pPr algn="just" marL="604519" indent="-302260" lvl="1">
              <a:lnSpc>
                <a:spcPts val="3919"/>
              </a:lnSpc>
              <a:buFont typeface="Arial"/>
              <a:buChar char="•"/>
            </a:pPr>
            <a:r>
              <a:rPr lang="en-US" sz="2799">
                <a:solidFill>
                  <a:srgbClr val="31404B"/>
                </a:solidFill>
                <a:latin typeface="Roboto"/>
                <a:ea typeface="Roboto"/>
                <a:cs typeface="Roboto"/>
                <a:sym typeface="Roboto"/>
              </a:rPr>
              <a:t>Stocks: AAPL, GOOG, MSFT — period: 2020–2021</a:t>
            </a:r>
          </a:p>
          <a:p>
            <a:pPr algn="just" marL="604519" indent="-302260" lvl="1">
              <a:lnSpc>
                <a:spcPts val="3919"/>
              </a:lnSpc>
              <a:buFont typeface="Arial"/>
              <a:buChar char="•"/>
            </a:pPr>
            <a:r>
              <a:rPr lang="en-US" sz="2799">
                <a:solidFill>
                  <a:srgbClr val="31404B"/>
                </a:solidFill>
                <a:latin typeface="Roboto"/>
                <a:ea typeface="Roboto"/>
                <a:cs typeface="Roboto"/>
                <a:sym typeface="Roboto"/>
              </a:rPr>
              <a:t>adjustOHLC() corrects prices for splits and dividends</a:t>
            </a:r>
          </a:p>
          <a:p>
            <a:pPr algn="just" marL="604519" indent="-302260" lvl="1">
              <a:lnSpc>
                <a:spcPts val="3919"/>
              </a:lnSpc>
              <a:buFont typeface="Arial"/>
              <a:buChar char="•"/>
            </a:pPr>
            <a:r>
              <a:rPr lang="en-US" sz="2799">
                <a:solidFill>
                  <a:srgbClr val="31404B"/>
                </a:solidFill>
                <a:latin typeface="Roboto"/>
                <a:ea typeface="Roboto"/>
                <a:cs typeface="Roboto"/>
                <a:sym typeface="Roboto"/>
              </a:rPr>
              <a:t>na.locf() forward-fills missing trading day values</a:t>
            </a:r>
          </a:p>
          <a:p>
            <a:pPr algn="just" marL="604519" indent="-302260" lvl="1">
              <a:lnSpc>
                <a:spcPts val="3919"/>
              </a:lnSpc>
              <a:buFont typeface="Arial"/>
              <a:buChar char="•"/>
            </a:pPr>
            <a:r>
              <a:rPr lang="en-US" sz="2799">
                <a:solidFill>
                  <a:srgbClr val="31404B"/>
                </a:solidFill>
                <a:latin typeface="Roboto"/>
                <a:ea typeface="Roboto"/>
                <a:cs typeface="Roboto"/>
                <a:sym typeface="Roboto"/>
              </a:rPr>
              <a:t>Output: clean xts object with OHLCV columns</a:t>
            </a:r>
          </a:p>
          <a:p>
            <a:pPr algn="just">
              <a:lnSpc>
                <a:spcPts val="391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885825"/>
            <a:ext cx="7786735" cy="1219825"/>
          </a:xfrm>
          <a:prstGeom prst="rect">
            <a:avLst/>
          </a:prstGeom>
        </p:spPr>
        <p:txBody>
          <a:bodyPr anchor="t" rtlCol="false" tIns="0" lIns="0" bIns="0" rIns="0">
            <a:spAutoFit/>
          </a:bodyPr>
          <a:lstStyle/>
          <a:p>
            <a:pPr algn="ctr">
              <a:lnSpc>
                <a:spcPts val="9940"/>
              </a:lnSpc>
            </a:pPr>
            <a:r>
              <a:rPr lang="en-US" sz="7100" b="true">
                <a:solidFill>
                  <a:srgbClr val="31404B"/>
                </a:solidFill>
                <a:latin typeface="Roboto Bold"/>
                <a:ea typeface="Roboto Bold"/>
                <a:cs typeface="Roboto Bold"/>
                <a:sym typeface="Roboto Bold"/>
              </a:rPr>
              <a:t>Return Distribution</a:t>
            </a:r>
          </a:p>
        </p:txBody>
      </p:sp>
      <p:sp>
        <p:nvSpPr>
          <p:cNvPr name="TextBox 11" id="11"/>
          <p:cNvSpPr txBox="true"/>
          <p:nvPr/>
        </p:nvSpPr>
        <p:spPr>
          <a:xfrm rot="0">
            <a:off x="4174401" y="3369310"/>
            <a:ext cx="9939199" cy="4462780"/>
          </a:xfrm>
          <a:prstGeom prst="rect">
            <a:avLst/>
          </a:prstGeom>
        </p:spPr>
        <p:txBody>
          <a:bodyPr anchor="t" rtlCol="false" tIns="0" lIns="0" bIns="0" rIns="0">
            <a:spAutoFit/>
          </a:bodyPr>
          <a:lstStyle/>
          <a:p>
            <a:pPr algn="just">
              <a:lnSpc>
                <a:spcPts val="3919"/>
              </a:lnSpc>
            </a:pPr>
            <a:r>
              <a:rPr lang="en-US" sz="2799">
                <a:solidFill>
                  <a:srgbClr val="31404B"/>
                </a:solidFill>
                <a:latin typeface="Roboto"/>
                <a:ea typeface="Roboto"/>
                <a:cs typeface="Roboto"/>
                <a:sym typeface="Roboto"/>
              </a:rPr>
              <a:t>After cleaning the data, daily returns are computed as the percentage change in closing price from one day to the next. These are plotted as a histogram to reveal the shape of price behavior over the two-year period. The distribution sits roughly centered at zero, but the tails extend further than a normal distribution would suggest — a well-known property of financial data meaning extreme single-day moves happen more often than standard models predict. This understanding underpins risk metrics like Value-at-Risk and the Sharpe Ratio.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667373" y="1909434"/>
            <a:ext cx="13903740" cy="6979941"/>
          </a:xfrm>
          <a:custGeom>
            <a:avLst/>
            <a:gdLst/>
            <a:ahLst/>
            <a:cxnLst/>
            <a:rect r="r" b="b" t="t" l="l"/>
            <a:pathLst>
              <a:path h="6979941" w="13903740">
                <a:moveTo>
                  <a:pt x="0" y="0"/>
                </a:moveTo>
                <a:lnTo>
                  <a:pt x="13903740" y="0"/>
                </a:lnTo>
                <a:lnTo>
                  <a:pt x="13903740" y="6979941"/>
                </a:lnTo>
                <a:lnTo>
                  <a:pt x="0" y="6979941"/>
                </a:lnTo>
                <a:lnTo>
                  <a:pt x="0" y="0"/>
                </a:lnTo>
                <a:close/>
              </a:path>
            </a:pathLst>
          </a:custGeom>
          <a:blipFill>
            <a:blip r:embed="rId6"/>
            <a:stretch>
              <a:fillRect l="0" t="-1168" r="0" b="-1168"/>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923925"/>
            <a:ext cx="7786735" cy="920115"/>
          </a:xfrm>
          <a:prstGeom prst="rect">
            <a:avLst/>
          </a:prstGeom>
        </p:spPr>
        <p:txBody>
          <a:bodyPr anchor="t" rtlCol="false" tIns="0" lIns="0" bIns="0" rIns="0">
            <a:spAutoFit/>
          </a:bodyPr>
          <a:lstStyle/>
          <a:p>
            <a:pPr algn="ctr">
              <a:lnSpc>
                <a:spcPts val="7559"/>
              </a:lnSpc>
            </a:pPr>
            <a:r>
              <a:rPr lang="en-US" sz="5399" b="true">
                <a:solidFill>
                  <a:srgbClr val="31404B"/>
                </a:solidFill>
                <a:latin typeface="Roboto Bold"/>
                <a:ea typeface="Roboto Bold"/>
                <a:cs typeface="Roboto Bold"/>
                <a:sym typeface="Roboto Bold"/>
              </a:rPr>
              <a:t>Moving Average Analysis</a:t>
            </a:r>
          </a:p>
        </p:txBody>
      </p:sp>
      <p:sp>
        <p:nvSpPr>
          <p:cNvPr name="TextBox 11" id="11"/>
          <p:cNvSpPr txBox="true"/>
          <p:nvPr/>
        </p:nvSpPr>
        <p:spPr>
          <a:xfrm rot="0">
            <a:off x="4174401" y="3369310"/>
            <a:ext cx="9939199" cy="4462780"/>
          </a:xfrm>
          <a:prstGeom prst="rect">
            <a:avLst/>
          </a:prstGeom>
        </p:spPr>
        <p:txBody>
          <a:bodyPr anchor="t" rtlCol="false" tIns="0" lIns="0" bIns="0" rIns="0">
            <a:spAutoFit/>
          </a:bodyPr>
          <a:lstStyle/>
          <a:p>
            <a:pPr algn="just">
              <a:lnSpc>
                <a:spcPts val="3919"/>
              </a:lnSpc>
            </a:pPr>
            <a:r>
              <a:rPr lang="en-US" sz="2799">
                <a:solidFill>
                  <a:srgbClr val="31404B"/>
                </a:solidFill>
                <a:latin typeface="Roboto"/>
                <a:ea typeface="Roboto"/>
                <a:cs typeface="Roboto"/>
                <a:sym typeface="Roboto"/>
              </a:rPr>
              <a:t>A 20-day and 50-day Simple Moving Average are computed for all three stocks and overlaid on their closing prices. The 20-day SMA reacts quickly to price changes while the 50-day captures the broader trend, and together they generate two widely used trading signals — the Golden Cross when the faster line crosses above the slower one indicating upward momentum, and the Death Cross for the reverse. Across all three stocks the SMAs confirm sustained upward trends through 2021 following the COVID-19 market shock.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847977" y="1854050"/>
            <a:ext cx="14014863" cy="6884801"/>
          </a:xfrm>
          <a:custGeom>
            <a:avLst/>
            <a:gdLst/>
            <a:ahLst/>
            <a:cxnLst/>
            <a:rect r="r" b="b" t="t" l="l"/>
            <a:pathLst>
              <a:path h="6884801" w="14014863">
                <a:moveTo>
                  <a:pt x="0" y="0"/>
                </a:moveTo>
                <a:lnTo>
                  <a:pt x="14014863" y="0"/>
                </a:lnTo>
                <a:lnTo>
                  <a:pt x="14014863" y="6884802"/>
                </a:lnTo>
                <a:lnTo>
                  <a:pt x="0" y="6884802"/>
                </a:lnTo>
                <a:lnTo>
                  <a:pt x="0" y="0"/>
                </a:lnTo>
                <a:close/>
              </a:path>
            </a:pathLst>
          </a:custGeom>
          <a:blipFill>
            <a:blip r:embed="rId6"/>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69160" y="1512926"/>
            <a:ext cx="14632035" cy="7261147"/>
          </a:xfrm>
          <a:custGeom>
            <a:avLst/>
            <a:gdLst/>
            <a:ahLst/>
            <a:cxnLst/>
            <a:rect r="r" b="b" t="t" l="l"/>
            <a:pathLst>
              <a:path h="7261147" w="14632035">
                <a:moveTo>
                  <a:pt x="0" y="0"/>
                </a:moveTo>
                <a:lnTo>
                  <a:pt x="14632035" y="0"/>
                </a:lnTo>
                <a:lnTo>
                  <a:pt x="14632035" y="7261148"/>
                </a:lnTo>
                <a:lnTo>
                  <a:pt x="0" y="7261148"/>
                </a:lnTo>
                <a:lnTo>
                  <a:pt x="0" y="0"/>
                </a:lnTo>
                <a:close/>
              </a:path>
            </a:pathLst>
          </a:custGeom>
          <a:blipFill>
            <a:blip r:embed="rId6"/>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369160" y="1540196"/>
            <a:ext cx="14485643" cy="7206608"/>
          </a:xfrm>
          <a:custGeom>
            <a:avLst/>
            <a:gdLst/>
            <a:ahLst/>
            <a:cxnLst/>
            <a:rect r="r" b="b" t="t" l="l"/>
            <a:pathLst>
              <a:path h="7206608" w="14485643">
                <a:moveTo>
                  <a:pt x="0" y="0"/>
                </a:moveTo>
                <a:lnTo>
                  <a:pt x="14485644" y="0"/>
                </a:lnTo>
                <a:lnTo>
                  <a:pt x="14485644" y="7206608"/>
                </a:lnTo>
                <a:lnTo>
                  <a:pt x="0" y="7206608"/>
                </a:lnTo>
                <a:lnTo>
                  <a:pt x="0" y="0"/>
                </a:lnTo>
                <a:close/>
              </a:path>
            </a:pathLst>
          </a:custGeom>
          <a:blipFill>
            <a:blip r:embed="rId6"/>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923925"/>
            <a:ext cx="7786735" cy="920115"/>
          </a:xfrm>
          <a:prstGeom prst="rect">
            <a:avLst/>
          </a:prstGeom>
        </p:spPr>
        <p:txBody>
          <a:bodyPr anchor="t" rtlCol="false" tIns="0" lIns="0" bIns="0" rIns="0">
            <a:spAutoFit/>
          </a:bodyPr>
          <a:lstStyle/>
          <a:p>
            <a:pPr algn="ctr">
              <a:lnSpc>
                <a:spcPts val="7559"/>
              </a:lnSpc>
            </a:pPr>
            <a:r>
              <a:rPr lang="en-US" sz="5399" b="true">
                <a:solidFill>
                  <a:srgbClr val="31404B"/>
                </a:solidFill>
                <a:latin typeface="Roboto Bold"/>
                <a:ea typeface="Roboto Bold"/>
                <a:cs typeface="Roboto Bold"/>
                <a:sym typeface="Roboto Bold"/>
              </a:rPr>
              <a:t>Volatility Analysis</a:t>
            </a:r>
          </a:p>
        </p:txBody>
      </p:sp>
      <p:sp>
        <p:nvSpPr>
          <p:cNvPr name="TextBox 11" id="11"/>
          <p:cNvSpPr txBox="true"/>
          <p:nvPr/>
        </p:nvSpPr>
        <p:spPr>
          <a:xfrm rot="0">
            <a:off x="4174401" y="3369310"/>
            <a:ext cx="9939199" cy="4958080"/>
          </a:xfrm>
          <a:prstGeom prst="rect">
            <a:avLst/>
          </a:prstGeom>
        </p:spPr>
        <p:txBody>
          <a:bodyPr anchor="t" rtlCol="false" tIns="0" lIns="0" bIns="0" rIns="0">
            <a:spAutoFit/>
          </a:bodyPr>
          <a:lstStyle/>
          <a:p>
            <a:pPr algn="just">
              <a:lnSpc>
                <a:spcPts val="3919"/>
              </a:lnSpc>
            </a:pPr>
            <a:r>
              <a:rPr lang="en-US" sz="2799">
                <a:solidFill>
                  <a:srgbClr val="31404B"/>
                </a:solidFill>
                <a:latin typeface="Roboto"/>
                <a:ea typeface="Roboto"/>
                <a:cs typeface="Roboto"/>
                <a:sym typeface="Roboto"/>
              </a:rPr>
              <a:t>A 20-day rolling standard deviation measures how much prices swing at any given point in time. The most striking feature is the sharp spike in March 2020 where volatility jumped six to eight times its normal level as markets reacted to COVID-19, with all three stocks spiking simultaneously — a clear sign of systemic market-wide risk rather than anything company-specific. Volatility normalized by mid-2020 and remained relatively stable through 2021. From a DWM perspective this rolling calculation is a direct application of sliding-window aggregation over ordered time-series data.</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630603" y="1513098"/>
            <a:ext cx="14377828" cy="7260803"/>
          </a:xfrm>
          <a:custGeom>
            <a:avLst/>
            <a:gdLst/>
            <a:ahLst/>
            <a:cxnLst/>
            <a:rect r="r" b="b" t="t" l="l"/>
            <a:pathLst>
              <a:path h="7260803" w="14377828">
                <a:moveTo>
                  <a:pt x="0" y="0"/>
                </a:moveTo>
                <a:lnTo>
                  <a:pt x="14377829" y="0"/>
                </a:lnTo>
                <a:lnTo>
                  <a:pt x="14377829" y="7260804"/>
                </a:lnTo>
                <a:lnTo>
                  <a:pt x="0" y="7260804"/>
                </a:lnTo>
                <a:lnTo>
                  <a:pt x="0" y="0"/>
                </a:lnTo>
                <a:close/>
              </a:path>
            </a:pathLst>
          </a:custGeom>
          <a:blipFill>
            <a:blip r:embed="rId6"/>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724121" y="1312987"/>
            <a:ext cx="14238826" cy="7350794"/>
          </a:xfrm>
          <a:custGeom>
            <a:avLst/>
            <a:gdLst/>
            <a:ahLst/>
            <a:cxnLst/>
            <a:rect r="r" b="b" t="t" l="l"/>
            <a:pathLst>
              <a:path h="7350794" w="14238826">
                <a:moveTo>
                  <a:pt x="0" y="0"/>
                </a:moveTo>
                <a:lnTo>
                  <a:pt x="14238826" y="0"/>
                </a:lnTo>
                <a:lnTo>
                  <a:pt x="14238826" y="7350795"/>
                </a:lnTo>
                <a:lnTo>
                  <a:pt x="0" y="7350795"/>
                </a:lnTo>
                <a:lnTo>
                  <a:pt x="0" y="0"/>
                </a:lnTo>
                <a:close/>
              </a:path>
            </a:pathLst>
          </a:custGeom>
          <a:blipFill>
            <a:blip r:embed="rId6"/>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923925"/>
            <a:ext cx="7786735" cy="920115"/>
          </a:xfrm>
          <a:prstGeom prst="rect">
            <a:avLst/>
          </a:prstGeom>
        </p:spPr>
        <p:txBody>
          <a:bodyPr anchor="t" rtlCol="false" tIns="0" lIns="0" bIns="0" rIns="0">
            <a:spAutoFit/>
          </a:bodyPr>
          <a:lstStyle/>
          <a:p>
            <a:pPr algn="ctr">
              <a:lnSpc>
                <a:spcPts val="7559"/>
              </a:lnSpc>
            </a:pPr>
            <a:r>
              <a:rPr lang="en-US" sz="5399" b="true">
                <a:solidFill>
                  <a:srgbClr val="31404B"/>
                </a:solidFill>
                <a:latin typeface="Roboto Bold"/>
                <a:ea typeface="Roboto Bold"/>
                <a:cs typeface="Roboto Bold"/>
                <a:sym typeface="Roboto Bold"/>
              </a:rPr>
              <a:t>Correlation Analysis</a:t>
            </a:r>
          </a:p>
        </p:txBody>
      </p:sp>
      <p:sp>
        <p:nvSpPr>
          <p:cNvPr name="TextBox 11" id="11"/>
          <p:cNvSpPr txBox="true"/>
          <p:nvPr/>
        </p:nvSpPr>
        <p:spPr>
          <a:xfrm rot="0">
            <a:off x="4174401" y="3369310"/>
            <a:ext cx="9939199" cy="3967480"/>
          </a:xfrm>
          <a:prstGeom prst="rect">
            <a:avLst/>
          </a:prstGeom>
        </p:spPr>
        <p:txBody>
          <a:bodyPr anchor="t" rtlCol="false" tIns="0" lIns="0" bIns="0" rIns="0">
            <a:spAutoFit/>
          </a:bodyPr>
          <a:lstStyle/>
          <a:p>
            <a:pPr algn="just">
              <a:lnSpc>
                <a:spcPts val="3919"/>
              </a:lnSpc>
            </a:pPr>
            <a:r>
              <a:rPr lang="en-US" sz="2799">
                <a:solidFill>
                  <a:srgbClr val="31404B"/>
                </a:solidFill>
                <a:latin typeface="Roboto"/>
                <a:ea typeface="Roboto"/>
                <a:cs typeface="Roboto"/>
                <a:sym typeface="Roboto"/>
              </a:rPr>
              <a:t>Pairwise correlations between the daily log-returns of all three stocks are computed and displayed as a heatmap. All three pairs show strong positive correlation between 0.76 and 0.82, meaning they tend to rise and fall together. This illustrates the Markowitz diversification principle — holding multiple assets only reduces portfolio risk if those assets are weakly correlated, and three large-cap US tech stocks clearly do not provide that benefit relative to each other</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777869" y="1248658"/>
            <a:ext cx="14291305" cy="7556528"/>
          </a:xfrm>
          <a:custGeom>
            <a:avLst/>
            <a:gdLst/>
            <a:ahLst/>
            <a:cxnLst/>
            <a:rect r="r" b="b" t="t" l="l"/>
            <a:pathLst>
              <a:path h="7556528" w="14291305">
                <a:moveTo>
                  <a:pt x="0" y="0"/>
                </a:moveTo>
                <a:lnTo>
                  <a:pt x="14291306" y="0"/>
                </a:lnTo>
                <a:lnTo>
                  <a:pt x="14291306" y="7556528"/>
                </a:lnTo>
                <a:lnTo>
                  <a:pt x="0" y="7556528"/>
                </a:lnTo>
                <a:lnTo>
                  <a:pt x="0" y="0"/>
                </a:lnTo>
                <a:close/>
              </a:path>
            </a:pathLst>
          </a:custGeom>
          <a:blipFill>
            <a:blip r:embed="rId6"/>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923925"/>
            <a:ext cx="7786735" cy="920115"/>
          </a:xfrm>
          <a:prstGeom prst="rect">
            <a:avLst/>
          </a:prstGeom>
        </p:spPr>
        <p:txBody>
          <a:bodyPr anchor="t" rtlCol="false" tIns="0" lIns="0" bIns="0" rIns="0">
            <a:spAutoFit/>
          </a:bodyPr>
          <a:lstStyle/>
          <a:p>
            <a:pPr algn="ctr">
              <a:lnSpc>
                <a:spcPts val="7559"/>
              </a:lnSpc>
            </a:pPr>
            <a:r>
              <a:rPr lang="en-US" sz="5399" b="true">
                <a:solidFill>
                  <a:srgbClr val="31404B"/>
                </a:solidFill>
                <a:latin typeface="Roboto Bold"/>
                <a:ea typeface="Roboto Bold"/>
                <a:cs typeface="Roboto Bold"/>
                <a:sym typeface="Roboto Bold"/>
              </a:rPr>
              <a:t>ARIMA Forecasting</a:t>
            </a:r>
          </a:p>
        </p:txBody>
      </p:sp>
      <p:sp>
        <p:nvSpPr>
          <p:cNvPr name="TextBox 11" id="11"/>
          <p:cNvSpPr txBox="true"/>
          <p:nvPr/>
        </p:nvSpPr>
        <p:spPr>
          <a:xfrm rot="0">
            <a:off x="4174401" y="3369310"/>
            <a:ext cx="9939199" cy="3967480"/>
          </a:xfrm>
          <a:prstGeom prst="rect">
            <a:avLst/>
          </a:prstGeom>
        </p:spPr>
        <p:txBody>
          <a:bodyPr anchor="t" rtlCol="false" tIns="0" lIns="0" bIns="0" rIns="0">
            <a:spAutoFit/>
          </a:bodyPr>
          <a:lstStyle/>
          <a:p>
            <a:pPr algn="just">
              <a:lnSpc>
                <a:spcPts val="3919"/>
              </a:lnSpc>
            </a:pPr>
            <a:r>
              <a:rPr lang="en-US" sz="2799">
                <a:solidFill>
                  <a:srgbClr val="31404B"/>
                </a:solidFill>
                <a:latin typeface="Roboto"/>
                <a:ea typeface="Roboto"/>
                <a:cs typeface="Roboto"/>
                <a:sym typeface="Roboto"/>
              </a:rPr>
              <a:t>An ARIMA model is fitted to Apple's closing price series to generate a 30-day forward forecast. The model combines autoregressive terms, differencing for stationarity, and moving average error correction, with auto.arima() automatically selecting the optimal parameters via AIC. The output includes 80% and 95% confidence intervals giving a probabilistic rather than point estimate, and residual diagnostics confirm the model errors resemble white noise, indicating a good fit.</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0">
            <a:off x="1725254" y="1248658"/>
            <a:ext cx="14371856" cy="7545224"/>
          </a:xfrm>
          <a:custGeom>
            <a:avLst/>
            <a:gdLst/>
            <a:ahLst/>
            <a:cxnLst/>
            <a:rect r="r" b="b" t="t" l="l"/>
            <a:pathLst>
              <a:path h="7545224" w="14371856">
                <a:moveTo>
                  <a:pt x="0" y="0"/>
                </a:moveTo>
                <a:lnTo>
                  <a:pt x="14371856" y="0"/>
                </a:lnTo>
                <a:lnTo>
                  <a:pt x="14371856" y="7545225"/>
                </a:lnTo>
                <a:lnTo>
                  <a:pt x="0" y="7545225"/>
                </a:lnTo>
                <a:lnTo>
                  <a:pt x="0" y="0"/>
                </a:lnTo>
                <a:close/>
              </a:path>
            </a:pathLst>
          </a:custGeom>
          <a:blipFill>
            <a:blip r:embed="rId6"/>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923925"/>
            <a:ext cx="7786735" cy="920115"/>
          </a:xfrm>
          <a:prstGeom prst="rect">
            <a:avLst/>
          </a:prstGeom>
        </p:spPr>
        <p:txBody>
          <a:bodyPr anchor="t" rtlCol="false" tIns="0" lIns="0" bIns="0" rIns="0">
            <a:spAutoFit/>
          </a:bodyPr>
          <a:lstStyle/>
          <a:p>
            <a:pPr algn="ctr">
              <a:lnSpc>
                <a:spcPts val="7559"/>
              </a:lnSpc>
            </a:pPr>
            <a:r>
              <a:rPr lang="en-US" sz="5399" b="true">
                <a:solidFill>
                  <a:srgbClr val="31404B"/>
                </a:solidFill>
                <a:latin typeface="Roboto Bold"/>
                <a:ea typeface="Roboto Bold"/>
                <a:cs typeface="Roboto Bold"/>
                <a:sym typeface="Roboto Bold"/>
              </a:rPr>
              <a:t>Interactive Visualization</a:t>
            </a:r>
          </a:p>
        </p:txBody>
      </p:sp>
      <p:sp>
        <p:nvSpPr>
          <p:cNvPr name="TextBox 11" id="11"/>
          <p:cNvSpPr txBox="true"/>
          <p:nvPr/>
        </p:nvSpPr>
        <p:spPr>
          <a:xfrm rot="0">
            <a:off x="4174401" y="3369310"/>
            <a:ext cx="9939199" cy="3472180"/>
          </a:xfrm>
          <a:prstGeom prst="rect">
            <a:avLst/>
          </a:prstGeom>
        </p:spPr>
        <p:txBody>
          <a:bodyPr anchor="t" rtlCol="false" tIns="0" lIns="0" bIns="0" rIns="0">
            <a:spAutoFit/>
          </a:bodyPr>
          <a:lstStyle/>
          <a:p>
            <a:pPr algn="just">
              <a:lnSpc>
                <a:spcPts val="3919"/>
              </a:lnSpc>
            </a:pPr>
            <a:r>
              <a:rPr lang="en-US" sz="2799">
                <a:solidFill>
                  <a:srgbClr val="31404B"/>
                </a:solidFill>
                <a:latin typeface="Roboto"/>
                <a:ea typeface="Roboto"/>
                <a:cs typeface="Roboto"/>
                <a:sym typeface="Roboto"/>
              </a:rPr>
              <a:t>A candlestick chart is built using Plotly, encoding each trading day's Open, High, Low, and Close values in a single glyph. The chart is fully interactive — hovering shows exact OHLC values, zooming and panning allow focus on any time window, and a range slider enables custom date selection. The output can be exported as a standalone HTML file, making it easy to share findings without requiring R to be installed.</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31404B"/>
        </a:solidFill>
      </p:bgPr>
    </p:bg>
    <p:spTree>
      <p:nvGrpSpPr>
        <p:cNvPr id="1" name=""/>
        <p:cNvGrpSpPr/>
        <p:nvPr/>
      </p:nvGrpSpPr>
      <p:grpSpPr>
        <a:xfrm>
          <a:off x="0" y="0"/>
          <a:ext cx="0" cy="0"/>
          <a:chOff x="0" y="0"/>
          <a:chExt cx="0" cy="0"/>
        </a:xfrm>
      </p:grpSpPr>
      <p:grpSp>
        <p:nvGrpSpPr>
          <p:cNvPr name="Group 2" id="2"/>
          <p:cNvGrpSpPr/>
          <p:nvPr/>
        </p:nvGrpSpPr>
        <p:grpSpPr>
          <a:xfrm rot="0">
            <a:off x="-2469871" y="-3320321"/>
            <a:ext cx="19729171" cy="16927642"/>
            <a:chOff x="0" y="0"/>
            <a:chExt cx="1014692" cy="870606"/>
          </a:xfrm>
        </p:grpSpPr>
        <p:sp>
          <p:nvSpPr>
            <p:cNvPr name="Freeform 3" id="3"/>
            <p:cNvSpPr/>
            <p:nvPr/>
          </p:nvSpPr>
          <p:spPr>
            <a:xfrm flipH="false" flipV="false" rot="0">
              <a:off x="0" y="0"/>
              <a:ext cx="1014692" cy="870606"/>
            </a:xfrm>
            <a:custGeom>
              <a:avLst/>
              <a:gdLst/>
              <a:ahLst/>
              <a:cxnLst/>
              <a:rect r="r" b="b" t="t" l="l"/>
              <a:pathLst>
                <a:path h="870606" w="1014692">
                  <a:moveTo>
                    <a:pt x="507346" y="0"/>
                  </a:moveTo>
                  <a:cubicBezTo>
                    <a:pt x="227147" y="0"/>
                    <a:pt x="0" y="194892"/>
                    <a:pt x="0" y="435303"/>
                  </a:cubicBezTo>
                  <a:cubicBezTo>
                    <a:pt x="0" y="675715"/>
                    <a:pt x="227147" y="870606"/>
                    <a:pt x="507346" y="870606"/>
                  </a:cubicBezTo>
                  <a:cubicBezTo>
                    <a:pt x="787546" y="870606"/>
                    <a:pt x="1014692" y="675715"/>
                    <a:pt x="1014692" y="435303"/>
                  </a:cubicBezTo>
                  <a:cubicBezTo>
                    <a:pt x="1014692" y="194892"/>
                    <a:pt x="787546" y="0"/>
                    <a:pt x="507346" y="0"/>
                  </a:cubicBezTo>
                  <a:close/>
                </a:path>
              </a:pathLst>
            </a:custGeom>
            <a:solidFill>
              <a:srgbClr val="FFFFFF"/>
            </a:solidFill>
          </p:spPr>
        </p:sp>
        <p:sp>
          <p:nvSpPr>
            <p:cNvPr name="TextBox 4" id="4"/>
            <p:cNvSpPr txBox="true"/>
            <p:nvPr/>
          </p:nvSpPr>
          <p:spPr>
            <a:xfrm>
              <a:off x="95127" y="43519"/>
              <a:ext cx="824437" cy="745468"/>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286614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2135123" y="-808742"/>
            <a:ext cx="3504283" cy="3510666"/>
          </a:xfrm>
          <a:custGeom>
            <a:avLst/>
            <a:gdLst/>
            <a:ahLst/>
            <a:cxnLst/>
            <a:rect r="r" b="b" t="t" l="l"/>
            <a:pathLst>
              <a:path h="3510666" w="3504283">
                <a:moveTo>
                  <a:pt x="0" y="0"/>
                </a:moveTo>
                <a:lnTo>
                  <a:pt x="3504283" y="0"/>
                </a:lnTo>
                <a:lnTo>
                  <a:pt x="3504283" y="3510666"/>
                </a:lnTo>
                <a:lnTo>
                  <a:pt x="0" y="35106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08437" y="2701924"/>
            <a:ext cx="1216873" cy="1216873"/>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9" id="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10" id="10"/>
          <p:cNvSpPr txBox="true"/>
          <p:nvPr/>
        </p:nvSpPr>
        <p:spPr>
          <a:xfrm rot="0">
            <a:off x="5250632" y="923925"/>
            <a:ext cx="7786735" cy="920115"/>
          </a:xfrm>
          <a:prstGeom prst="rect">
            <a:avLst/>
          </a:prstGeom>
        </p:spPr>
        <p:txBody>
          <a:bodyPr anchor="t" rtlCol="false" tIns="0" lIns="0" bIns="0" rIns="0">
            <a:spAutoFit/>
          </a:bodyPr>
          <a:lstStyle/>
          <a:p>
            <a:pPr algn="ctr">
              <a:lnSpc>
                <a:spcPts val="7559"/>
              </a:lnSpc>
            </a:pPr>
            <a:r>
              <a:rPr lang="en-US" sz="5399" b="true">
                <a:solidFill>
                  <a:srgbClr val="31404B"/>
                </a:solidFill>
                <a:latin typeface="Roboto Bold"/>
                <a:ea typeface="Roboto Bold"/>
                <a:cs typeface="Roboto Bold"/>
                <a:sym typeface="Roboto Bold"/>
              </a:rPr>
              <a:t>Conclusion</a:t>
            </a:r>
          </a:p>
        </p:txBody>
      </p:sp>
      <p:sp>
        <p:nvSpPr>
          <p:cNvPr name="TextBox 11" id="11"/>
          <p:cNvSpPr txBox="true"/>
          <p:nvPr/>
        </p:nvSpPr>
        <p:spPr>
          <a:xfrm rot="0">
            <a:off x="4174401" y="3369310"/>
            <a:ext cx="9939199" cy="3967480"/>
          </a:xfrm>
          <a:prstGeom prst="rect">
            <a:avLst/>
          </a:prstGeom>
        </p:spPr>
        <p:txBody>
          <a:bodyPr anchor="t" rtlCol="false" tIns="0" lIns="0" bIns="0" rIns="0">
            <a:spAutoFit/>
          </a:bodyPr>
          <a:lstStyle/>
          <a:p>
            <a:pPr algn="just">
              <a:lnSpc>
                <a:spcPts val="3919"/>
              </a:lnSpc>
            </a:pPr>
            <a:r>
              <a:rPr lang="en-US" sz="2799">
                <a:solidFill>
                  <a:srgbClr val="31404B"/>
                </a:solidFill>
                <a:latin typeface="Roboto"/>
                <a:ea typeface="Roboto"/>
                <a:cs typeface="Roboto"/>
                <a:sym typeface="Roboto"/>
              </a:rPr>
              <a:t>A final comparison table shows Microsoft delivered the strongest return at roughly 106% over the two years, followed by Google at 89% and Apple at 82%, with annualised volatility similar across all three at 23–28%. The project as a whole demonstrates that core DWM concepts map naturally onto financial analysis — rolling aggregations mirror windowed SQL queries, the data pipeline mirrors ETL, and ARIMA is sequential predictive modelling applied to time-ordered data.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76211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17410" y="8431464"/>
            <a:ext cx="2489663" cy="2494198"/>
          </a:xfrm>
          <a:custGeom>
            <a:avLst/>
            <a:gdLst/>
            <a:ahLst/>
            <a:cxnLst/>
            <a:rect r="r" b="b" t="t" l="l"/>
            <a:pathLst>
              <a:path h="2494198" w="2489663">
                <a:moveTo>
                  <a:pt x="0" y="0"/>
                </a:moveTo>
                <a:lnTo>
                  <a:pt x="2489662" y="0"/>
                </a:lnTo>
                <a:lnTo>
                  <a:pt x="2489662" y="2494198"/>
                </a:lnTo>
                <a:lnTo>
                  <a:pt x="0" y="24941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2213955" y="9678563"/>
            <a:ext cx="1216873" cy="1216873"/>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6" id="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7" id="7"/>
          <p:cNvSpPr txBox="true"/>
          <p:nvPr/>
        </p:nvSpPr>
        <p:spPr>
          <a:xfrm rot="0">
            <a:off x="4645401" y="3270888"/>
            <a:ext cx="8997199" cy="2416174"/>
          </a:xfrm>
          <a:prstGeom prst="rect">
            <a:avLst/>
          </a:prstGeom>
        </p:spPr>
        <p:txBody>
          <a:bodyPr anchor="t" rtlCol="false" tIns="0" lIns="0" bIns="0" rIns="0">
            <a:spAutoFit/>
          </a:bodyPr>
          <a:lstStyle/>
          <a:p>
            <a:pPr algn="ctr">
              <a:lnSpc>
                <a:spcPts val="19600"/>
              </a:lnSpc>
            </a:pPr>
            <a:r>
              <a:rPr lang="en-US" sz="14000" b="true">
                <a:solidFill>
                  <a:srgbClr val="31404B"/>
                </a:solidFill>
                <a:latin typeface="Roboto Bold"/>
                <a:ea typeface="Roboto Bold"/>
                <a:cs typeface="Roboto Bold"/>
                <a:sym typeface="Roboto Bold"/>
              </a:rPr>
              <a:t>Thank You</a:t>
            </a:r>
          </a:p>
        </p:txBody>
      </p:sp>
      <p:sp>
        <p:nvSpPr>
          <p:cNvPr name="Freeform 8" id="8"/>
          <p:cNvSpPr/>
          <p:nvPr/>
        </p:nvSpPr>
        <p:spPr>
          <a:xfrm flipH="false" flipV="false" rot="0">
            <a:off x="15880951" y="-1693459"/>
            <a:ext cx="4071451" cy="4078867"/>
          </a:xfrm>
          <a:custGeom>
            <a:avLst/>
            <a:gdLst/>
            <a:ahLst/>
            <a:cxnLst/>
            <a:rect r="r" b="b" t="t" l="l"/>
            <a:pathLst>
              <a:path h="4078867" w="4071451">
                <a:moveTo>
                  <a:pt x="0" y="0"/>
                </a:moveTo>
                <a:lnTo>
                  <a:pt x="4071451" y="0"/>
                </a:lnTo>
                <a:lnTo>
                  <a:pt x="4071451" y="4078868"/>
                </a:lnTo>
                <a:lnTo>
                  <a:pt x="0" y="40788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9" id="9"/>
          <p:cNvGrpSpPr/>
          <p:nvPr/>
        </p:nvGrpSpPr>
        <p:grpSpPr>
          <a:xfrm rot="0">
            <a:off x="16898813" y="-671888"/>
            <a:ext cx="2035726" cy="203572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1404B"/>
            </a:solidFill>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AutoShape 12" id="12"/>
          <p:cNvSpPr/>
          <p:nvPr/>
        </p:nvSpPr>
        <p:spPr>
          <a:xfrm flipV="true">
            <a:off x="-160020" y="1028700"/>
            <a:ext cx="15553339" cy="19050"/>
          </a:xfrm>
          <a:prstGeom prst="line">
            <a:avLst/>
          </a:prstGeom>
          <a:ln cap="flat" w="38100">
            <a:solidFill>
              <a:srgbClr val="000000"/>
            </a:solidFill>
            <a:prstDash val="solid"/>
            <a:headEnd type="none" len="sm" w="sm"/>
            <a:tailEnd type="oval" len="lg" w="lg"/>
          </a:ln>
        </p:spPr>
      </p:sp>
      <p:sp>
        <p:nvSpPr>
          <p:cNvPr name="AutoShape 13" id="13"/>
          <p:cNvSpPr/>
          <p:nvPr/>
        </p:nvSpPr>
        <p:spPr>
          <a:xfrm flipV="true">
            <a:off x="3430852" y="9248775"/>
            <a:ext cx="15553339" cy="19050"/>
          </a:xfrm>
          <a:prstGeom prst="line">
            <a:avLst/>
          </a:prstGeom>
          <a:ln cap="flat" w="38100">
            <a:solidFill>
              <a:srgbClr val="000000"/>
            </a:solidFill>
            <a:prstDash val="solid"/>
            <a:headEnd type="oval" len="lg" w="lg"/>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DAHE_CO_BXQ</dc:identifier>
  <dcterms:modified xsi:type="dcterms:W3CDTF">2011-08-01T06:04:30Z</dcterms:modified>
  <cp:revision>1</cp:revision>
  <dc:title>Financial Market Trends</dc:title>
</cp:coreProperties>
</file>